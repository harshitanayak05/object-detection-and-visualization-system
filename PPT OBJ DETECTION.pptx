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318" r:id="rId3"/>
    <p:sldId id="319" r:id="rId4"/>
    <p:sldId id="317" r:id="rId5"/>
    <p:sldId id="320" r:id="rId6"/>
    <p:sldId id="321" r:id="rId7"/>
    <p:sldId id="322" r:id="rId8"/>
    <p:sldId id="326" r:id="rId9"/>
    <p:sldId id="323" r:id="rId10"/>
    <p:sldId id="324" r:id="rId11"/>
    <p:sldId id="32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NAYAK" userId="cf23cb08f2d6cfb4" providerId="LiveId" clId="{403085E7-5593-47CC-AEDF-2AA44168E252}"/>
    <pc:docChg chg="undo custSel addSld delSld modSld sldOrd">
      <pc:chgData name="HARSHITA NAYAK" userId="cf23cb08f2d6cfb4" providerId="LiveId" clId="{403085E7-5593-47CC-AEDF-2AA44168E252}" dt="2026-05-23T08:18:21.232" v="650" actId="2696"/>
      <pc:docMkLst>
        <pc:docMk/>
      </pc:docMkLst>
      <pc:sldChg chg="delSp modSp mod">
        <pc:chgData name="HARSHITA NAYAK" userId="cf23cb08f2d6cfb4" providerId="LiveId" clId="{403085E7-5593-47CC-AEDF-2AA44168E252}" dt="2026-05-23T08:17:45.628" v="649"/>
        <pc:sldMkLst>
          <pc:docMk/>
          <pc:sldMk cId="1136048140" sldId="256"/>
        </pc:sldMkLst>
        <pc:spChg chg="del mod">
          <ac:chgData name="HARSHITA NAYAK" userId="cf23cb08f2d6cfb4" providerId="LiveId" clId="{403085E7-5593-47CC-AEDF-2AA44168E252}" dt="2026-05-23T08:17:13.141" v="640"/>
          <ac:spMkLst>
            <pc:docMk/>
            <pc:sldMk cId="1136048140" sldId="256"/>
            <ac:spMk id="10" creationId="{631F38AA-0089-421D-8B4D-F5BB4B7FB1E7}"/>
          </ac:spMkLst>
        </pc:spChg>
        <pc:spChg chg="del mod">
          <ac:chgData name="HARSHITA NAYAK" userId="cf23cb08f2d6cfb4" providerId="LiveId" clId="{403085E7-5593-47CC-AEDF-2AA44168E252}" dt="2026-05-23T08:17:45.628" v="649"/>
          <ac:spMkLst>
            <pc:docMk/>
            <pc:sldMk cId="1136048140" sldId="256"/>
            <ac:spMk id="11" creationId="{FE17AF72-7303-42AB-B6C4-9D6C5832EE1E}"/>
          </ac:spMkLst>
        </pc:spChg>
        <pc:spChg chg="mod">
          <ac:chgData name="HARSHITA NAYAK" userId="cf23cb08f2d6cfb4" providerId="LiveId" clId="{403085E7-5593-47CC-AEDF-2AA44168E252}" dt="2026-05-23T08:17:42.452" v="647" actId="1076"/>
          <ac:spMkLst>
            <pc:docMk/>
            <pc:sldMk cId="1136048140" sldId="256"/>
            <ac:spMk id="12" creationId="{2EB9EB08-65C6-4BEF-A7F6-5C458A89B5AD}"/>
          </ac:spMkLst>
        </pc:spChg>
        <pc:spChg chg="mod">
          <ac:chgData name="HARSHITA NAYAK" userId="cf23cb08f2d6cfb4" providerId="LiveId" clId="{403085E7-5593-47CC-AEDF-2AA44168E252}" dt="2026-05-23T08:17:23.875" v="643" actId="1076"/>
          <ac:spMkLst>
            <pc:docMk/>
            <pc:sldMk cId="1136048140" sldId="256"/>
            <ac:spMk id="15" creationId="{0A7C30DD-DB15-4C67-833C-08F10B2179C2}"/>
          </ac:spMkLst>
        </pc:spChg>
        <pc:graphicFrameChg chg="mod modGraphic">
          <ac:chgData name="HARSHITA NAYAK" userId="cf23cb08f2d6cfb4" providerId="LiveId" clId="{403085E7-5593-47CC-AEDF-2AA44168E252}" dt="2026-05-23T08:17:34.967" v="646" actId="6549"/>
          <ac:graphicFrameMkLst>
            <pc:docMk/>
            <pc:sldMk cId="1136048140" sldId="256"/>
            <ac:graphicFrameMk id="13" creationId="{4D58FCF7-6CAC-47C9-8AE7-7541DD75B246}"/>
          </ac:graphicFrameMkLst>
        </pc:graphicFrameChg>
        <pc:picChg chg="del">
          <ac:chgData name="HARSHITA NAYAK" userId="cf23cb08f2d6cfb4" providerId="LiveId" clId="{403085E7-5593-47CC-AEDF-2AA44168E252}" dt="2026-05-23T08:17:13.141" v="638" actId="478"/>
          <ac:picMkLst>
            <pc:docMk/>
            <pc:sldMk cId="1136048140" sldId="256"/>
            <ac:picMk id="2" creationId="{691EA1E8-67D8-D6BC-3D4A-013DF2B45324}"/>
          </ac:picMkLst>
        </pc:picChg>
      </pc:sldChg>
      <pc:sldChg chg="del">
        <pc:chgData name="HARSHITA NAYAK" userId="cf23cb08f2d6cfb4" providerId="LiveId" clId="{403085E7-5593-47CC-AEDF-2AA44168E252}" dt="2026-05-23T08:18:21.232" v="650" actId="2696"/>
        <pc:sldMkLst>
          <pc:docMk/>
          <pc:sldMk cId="1828581511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0D61C-E5D4-4671-95AD-394C68093BD8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F9CB-B36B-40C1-BB2E-4DD056FCC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51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ADFF-C4EF-4A24-8D9B-46FFBC363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02710-3BE1-4F4D-945D-C3D799AD0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22344-CCB7-420D-8509-7768B018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F919-02D2-4F4F-9EB9-22DE3702BBF0}" type="datetime1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138E9-D363-41DD-B3C2-DBAA59BD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5DE11-F24E-4744-8153-A47DB556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41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3C4E-AFE9-48E2-8516-2F536EDA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57B3-6E5E-470C-8E1D-C4511BB80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DCC67-729E-4F5E-9376-FCBB2CA5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243B1-9B82-4CC0-8124-A2D508DC43E7}" type="datetime1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154DF-5CF1-46D3-A6EC-33A3C85A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AD779-C83D-4907-ACFA-52D00BE7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3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2A3D-5D88-46A1-A74F-673349B1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CF762-6C71-4D81-BA6E-51B7BCC7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E277B-6603-4722-B9B2-D84E1AE8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5E14E-0B2C-433F-9C4B-E6546843D5EC}" type="datetime1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4B0F9-98F8-406C-9F8E-EDAFC950C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96B4E-85DE-4CFC-ACD3-F299CC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38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4033-3C2D-4766-B41B-3BF55DFE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76A45-9229-4C32-943A-C07C855CF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A8CA3-F293-4C67-8063-C4A864F12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D03F4-F34A-4588-9841-CB5B365EA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8D9B-EB27-4385-9BC4-C1805BF7F8F3}" type="datetime1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85E0A-7DE1-4DB5-9C8E-BA1605EA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7EA47-DF57-4A4F-95DE-4280A53A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54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D7A0-7B37-42B3-8047-F24B3AAAF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ECF85-0A0F-4324-8CF9-43525505E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0CA76-E455-4978-B297-AF808223B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749D0-F35B-4870-AEA3-53375BD8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E3EB5-1410-4DB8-A989-3A085C5FA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9CCD1-D049-463C-A5A2-7952FDE6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E8C48-3966-4F6C-8FF8-5BDA5947FD4F}" type="datetime1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E7A3F6-71F0-482A-ACCF-C36A5791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14EF8-7571-4373-9D82-AEC2FD49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1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6BF8-DDF8-4B15-9235-EBF5E033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D553E-1EC2-4338-9F5F-1B3B3FCC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6A8D-73F6-4E9B-8C25-27C730721FD2}" type="datetime1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10747-29CC-4CE2-B24C-C45DF800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B9EDE-6532-4FAC-96DE-CB8AF34D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87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57273E-8A9C-4C51-9500-912A80C8B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9B8F-3D0B-44C5-808B-45372FCC1DB1}" type="datetime1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854C6-CEFA-4397-AA06-A75E94C6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373B3-E921-4203-BF2A-F0BE5236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90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1B24-F172-4B94-9F9B-13F398B5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02F2B-4D2F-4008-AF1A-6AE24BD3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D43A3-814E-45A2-8177-98713416A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CDF41-2895-4DE5-87CD-2F90BD92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3F564-B76B-4360-8F2C-CC25B600FE2A}" type="datetime1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7E751-512F-4B80-881F-D89EEE5D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344A4-F293-4FDD-BD9B-127155BC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10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2FF1-08E8-4B5D-901C-E0F9BAB9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EF4AE1-D60C-4F1A-8F9B-BE01D067E6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29464-C04D-4678-BA47-F828536DE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BE52F-CA02-4742-AE3D-0EBDB40BF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19A2D-54B0-4D25-9502-94901921C9B5}" type="datetime1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3D637-62F8-4528-B79F-D8DF70AE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F7D1-FA5A-42B1-AE32-45A35A3C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6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CEB1-C618-45E7-9F88-B38E0C48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6B3E5-E97F-4712-B4D2-E4D6983C8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FC85-53FF-4AB4-A503-F092EE20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DA0BF-5741-4203-A616-9B1F65864C68}" type="datetime1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47442-FDC6-4281-AA64-646B0E16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6EF7C-38D2-42F9-B2D0-98C0ADA6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3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CD7F51-FBE9-4E19-9E32-3D6D0DA44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17535-4450-4583-948B-10FA493CF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31692-289D-4E8B-A20A-7467A961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E0E0-B5C3-4DDB-B8B3-CE3304846FB8}" type="datetime1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BE6EF-1FCF-483C-A498-2B25D678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6A780-4EB4-44F8-8690-6F68A1EC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14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26565-0563-49AD-9B57-DB66D9DC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0EB30-01BD-4BDE-B8B5-10550F016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15BBF-5B34-4D06-959B-F69A9DB10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907A9-4B31-49AA-A221-6F73B61351C7}" type="datetime1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9C2B-2F4C-4CD3-8711-58BDA506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222BF-10EA-40A0-8DB5-0CAD4AFA0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901C0-E6C4-4CD0-A2CB-0632E133B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95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7C30DD-DB15-4C67-833C-08F10B2179C2}"/>
              </a:ext>
            </a:extLst>
          </p:cNvPr>
          <p:cNvSpPr/>
          <p:nvPr/>
        </p:nvSpPr>
        <p:spPr>
          <a:xfrm>
            <a:off x="120073" y="110287"/>
            <a:ext cx="11850255" cy="6525490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9EB08-65C6-4BEF-A7F6-5C458A89B5AD}"/>
              </a:ext>
            </a:extLst>
          </p:cNvPr>
          <p:cNvSpPr txBox="1"/>
          <p:nvPr/>
        </p:nvSpPr>
        <p:spPr>
          <a:xfrm>
            <a:off x="1275965" y="2905780"/>
            <a:ext cx="10172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and Visualization System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4D58FCF7-6CAC-47C9-8AE7-7541DD75B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27157"/>
              </p:ext>
            </p:extLst>
          </p:nvPr>
        </p:nvGraphicFramePr>
        <p:xfrm>
          <a:off x="3335867" y="4306400"/>
          <a:ext cx="541866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243701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99880430"/>
                    </a:ext>
                  </a:extLst>
                </a:gridCol>
              </a:tblGrid>
              <a:tr h="237081"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440"/>
                  </a:ext>
                </a:extLst>
              </a:tr>
              <a:tr h="237081"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401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04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01F9-15B6-7B9A-A0DF-64153902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81" y="834557"/>
            <a:ext cx="10515600" cy="502622"/>
          </a:xfrm>
        </p:spPr>
        <p:txBody>
          <a:bodyPr>
            <a:norm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C73F6-F3F4-3BAD-4E78-73E5A613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9CEC2-A9A3-62EE-52FA-1B7A4F18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2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353DAB6-6D9D-7561-9039-BA47C631A5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281" y="1536174"/>
            <a:ext cx="726069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plays an important role in modern technology by helping systems understand their surroundings.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enables identification of objects along with their position and distance in real time.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are widely used in areas like automation, robotics, security, and smart devices.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embedded systems, low-cost solutions for object detection have become more accessible.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detected objects makes it easier to interpret data and improves user interaction.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simple and effective system that detects objects and represents their position visually.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AE922-11FF-E20E-78B3-1B6F5EBFF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411" y="1840463"/>
            <a:ext cx="4243578" cy="317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7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D12C4B-2A28-B861-EE35-E3AA973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EB6A5C-8416-1BC2-7CFE-5D5EF0DA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EDB2C-37DF-0691-BBB8-418B3DC1F3FF}"/>
              </a:ext>
            </a:extLst>
          </p:cNvPr>
          <p:cNvSpPr txBox="1"/>
          <p:nvPr/>
        </p:nvSpPr>
        <p:spPr>
          <a:xfrm>
            <a:off x="595992" y="612844"/>
            <a:ext cx="77269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simple and real-time object detection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 way to understand object position visually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complexity compared to existing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low-cost and efficient solution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practical knowledge of sensors and programming 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objects within a short range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scanning from 0° to 180°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object position in real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graphical visualization of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for advanced and real-world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43373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5AC45-F870-6213-4718-F1B80610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8E49-3FBF-BCD9-7E9A-CCCDAFD1FCC7}"/>
              </a:ext>
            </a:extLst>
          </p:cNvPr>
          <p:cNvSpPr txBox="1"/>
          <p:nvPr/>
        </p:nvSpPr>
        <p:spPr>
          <a:xfrm>
            <a:off x="325300" y="448005"/>
            <a:ext cx="950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8464A4-00DA-86E9-A3B0-9AC138B27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105608"/>
              </p:ext>
            </p:extLst>
          </p:nvPr>
        </p:nvGraphicFramePr>
        <p:xfrm>
          <a:off x="423915" y="936057"/>
          <a:ext cx="11344170" cy="536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695">
                  <a:extLst>
                    <a:ext uri="{9D8B030D-6E8A-4147-A177-3AD203B41FA5}">
                      <a16:colId xmlns:a16="http://schemas.microsoft.com/office/drawing/2014/main" val="3673715164"/>
                    </a:ext>
                  </a:extLst>
                </a:gridCol>
                <a:gridCol w="1890695">
                  <a:extLst>
                    <a:ext uri="{9D8B030D-6E8A-4147-A177-3AD203B41FA5}">
                      <a16:colId xmlns:a16="http://schemas.microsoft.com/office/drawing/2014/main" val="2298367080"/>
                    </a:ext>
                  </a:extLst>
                </a:gridCol>
                <a:gridCol w="1890695">
                  <a:extLst>
                    <a:ext uri="{9D8B030D-6E8A-4147-A177-3AD203B41FA5}">
                      <a16:colId xmlns:a16="http://schemas.microsoft.com/office/drawing/2014/main" val="4030916983"/>
                    </a:ext>
                  </a:extLst>
                </a:gridCol>
                <a:gridCol w="1713722">
                  <a:extLst>
                    <a:ext uri="{9D8B030D-6E8A-4147-A177-3AD203B41FA5}">
                      <a16:colId xmlns:a16="http://schemas.microsoft.com/office/drawing/2014/main" val="314014832"/>
                    </a:ext>
                  </a:extLst>
                </a:gridCol>
                <a:gridCol w="1912776">
                  <a:extLst>
                    <a:ext uri="{9D8B030D-6E8A-4147-A177-3AD203B41FA5}">
                      <a16:colId xmlns:a16="http://schemas.microsoft.com/office/drawing/2014/main" val="3177178921"/>
                    </a:ext>
                  </a:extLst>
                </a:gridCol>
                <a:gridCol w="2045587">
                  <a:extLst>
                    <a:ext uri="{9D8B030D-6E8A-4147-A177-3AD203B41FA5}">
                      <a16:colId xmlns:a16="http://schemas.microsoft.com/office/drawing/2014/main" val="95210051"/>
                    </a:ext>
                  </a:extLst>
                </a:gridCol>
              </a:tblGrid>
              <a:tr h="96341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Journal/ conference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 future scope from the paper (if any)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58659"/>
                  </a:ext>
                </a:extLst>
              </a:tr>
              <a:tr h="1614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Ultrasonic Sensor-Based Object Detection Systems for Short-Range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Smith, J., &amp; Brown, 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International Journal of Sensor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Demonstrated accurate short-range object detection using ultrasonic sensors with time-of-flight 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Can be improved for long-range detection and performance in noisy environments.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34671"/>
                  </a:ext>
                </a:extLst>
              </a:tr>
              <a:tr h="139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Real-Time Object Detection Using Embedded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Kumar, A., &amp; Patel, 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IEEE International Conference on Embedded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Proposed real-time object detection using embedded 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Scope for improving processing speed and integrating AI-based detection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252147"/>
                  </a:ext>
                </a:extLst>
              </a:tr>
              <a:tr h="139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Servo-Based Scanning Mechanisms for Environmental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Lee, S., &amp; Kim, 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Journal of Robotics and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Introduced servo motor-based scanning system for environmental mapping.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Future work can include higher precision motors and adaptive scanning techniques.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3940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DA13B2-8781-1699-E324-7642CDB0A41B}"/>
              </a:ext>
            </a:extLst>
          </p:cNvPr>
          <p:cNvSpPr txBox="1"/>
          <p:nvPr/>
        </p:nvSpPr>
        <p:spPr>
          <a:xfrm>
            <a:off x="4612666" y="140228"/>
            <a:ext cx="3275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and Visualization System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3F25337-CEBC-A687-E697-447F3BA4B1CB}"/>
              </a:ext>
            </a:extLst>
          </p:cNvPr>
          <p:cNvSpPr txBox="1">
            <a:spLocks/>
          </p:cNvSpPr>
          <p:nvPr/>
        </p:nvSpPr>
        <p:spPr>
          <a:xfrm>
            <a:off x="779205" y="6250803"/>
            <a:ext cx="10134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Semester, ECE, BNMIT                                                                           2026-27</a:t>
            </a:r>
          </a:p>
        </p:txBody>
      </p:sp>
    </p:spTree>
    <p:extLst>
      <p:ext uri="{BB962C8B-B14F-4D97-AF65-F5344CB8AC3E}">
        <p14:creationId xmlns:p14="http://schemas.microsoft.com/office/powerpoint/2010/main" val="13308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A639CB-DED7-9AE3-2D2C-4029EBE5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89633-A350-FC0C-BE58-FDE37CB6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EA5336-4F92-ACE3-563E-16A993309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376486"/>
              </p:ext>
            </p:extLst>
          </p:nvPr>
        </p:nvGraphicFramePr>
        <p:xfrm>
          <a:off x="266073" y="668629"/>
          <a:ext cx="11659854" cy="5375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309">
                  <a:extLst>
                    <a:ext uri="{9D8B030D-6E8A-4147-A177-3AD203B41FA5}">
                      <a16:colId xmlns:a16="http://schemas.microsoft.com/office/drawing/2014/main" val="3132756531"/>
                    </a:ext>
                  </a:extLst>
                </a:gridCol>
                <a:gridCol w="1943309">
                  <a:extLst>
                    <a:ext uri="{9D8B030D-6E8A-4147-A177-3AD203B41FA5}">
                      <a16:colId xmlns:a16="http://schemas.microsoft.com/office/drawing/2014/main" val="3261452908"/>
                    </a:ext>
                  </a:extLst>
                </a:gridCol>
                <a:gridCol w="1943309">
                  <a:extLst>
                    <a:ext uri="{9D8B030D-6E8A-4147-A177-3AD203B41FA5}">
                      <a16:colId xmlns:a16="http://schemas.microsoft.com/office/drawing/2014/main" val="1016919162"/>
                    </a:ext>
                  </a:extLst>
                </a:gridCol>
                <a:gridCol w="1943309">
                  <a:extLst>
                    <a:ext uri="{9D8B030D-6E8A-4147-A177-3AD203B41FA5}">
                      <a16:colId xmlns:a16="http://schemas.microsoft.com/office/drawing/2014/main" val="3686703670"/>
                    </a:ext>
                  </a:extLst>
                </a:gridCol>
                <a:gridCol w="1943309">
                  <a:extLst>
                    <a:ext uri="{9D8B030D-6E8A-4147-A177-3AD203B41FA5}">
                      <a16:colId xmlns:a16="http://schemas.microsoft.com/office/drawing/2014/main" val="2822449093"/>
                    </a:ext>
                  </a:extLst>
                </a:gridCol>
                <a:gridCol w="1943309">
                  <a:extLst>
                    <a:ext uri="{9D8B030D-6E8A-4147-A177-3AD203B41FA5}">
                      <a16:colId xmlns:a16="http://schemas.microsoft.com/office/drawing/2014/main" val="3320466770"/>
                    </a:ext>
                  </a:extLst>
                </a:gridCol>
              </a:tblGrid>
              <a:tr h="120017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Journal/ conference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 future scope from the paper (if any)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742648"/>
                  </a:ext>
                </a:extLst>
              </a:tr>
              <a:tr h="1128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Web-Based Visualization of Sensor Data Using Real-Time Interfaces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Zhang, Y., Chen, X., &amp; Li, 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Journal of Web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Developed real-time web interfaces for sensor 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Can be enhanced with advanced UI/UX and integration with cloud-based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343736"/>
                  </a:ext>
                </a:extLst>
              </a:tr>
              <a:tr h="1128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Serial Communication Techniques Between Microcontrollers and High-Level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Reddy, P., &amp; Sharma, 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International Journal of Computer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Explained efficient serial communication (UART) between microcontrollers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Future scope includes higher-speed protocols and wireless communication methods.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940475"/>
                  </a:ext>
                </a:extLst>
              </a:tr>
              <a:tr h="1128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Interactive Visualization Systems for Real-Time Monitoring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Nguyen, T., &amp; Pham, 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IEEE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Presented interactive visualization techniques for monitoring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Can be extended with AI-based prediction and anomaly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578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71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9179A1-300C-34C8-9DCD-5A49D4C0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Semester, ECE, BNMIT                                                                           2023-24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4E968A-0AC3-5532-463D-63D726C0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33DB44-459B-A130-C3B1-317A20902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48735"/>
              </p:ext>
            </p:extLst>
          </p:nvPr>
        </p:nvGraphicFramePr>
        <p:xfrm>
          <a:off x="316614" y="286074"/>
          <a:ext cx="11558772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462">
                  <a:extLst>
                    <a:ext uri="{9D8B030D-6E8A-4147-A177-3AD203B41FA5}">
                      <a16:colId xmlns:a16="http://schemas.microsoft.com/office/drawing/2014/main" val="3132756531"/>
                    </a:ext>
                  </a:extLst>
                </a:gridCol>
                <a:gridCol w="1926462">
                  <a:extLst>
                    <a:ext uri="{9D8B030D-6E8A-4147-A177-3AD203B41FA5}">
                      <a16:colId xmlns:a16="http://schemas.microsoft.com/office/drawing/2014/main" val="3261452908"/>
                    </a:ext>
                  </a:extLst>
                </a:gridCol>
                <a:gridCol w="1926462">
                  <a:extLst>
                    <a:ext uri="{9D8B030D-6E8A-4147-A177-3AD203B41FA5}">
                      <a16:colId xmlns:a16="http://schemas.microsoft.com/office/drawing/2014/main" val="1016919162"/>
                    </a:ext>
                  </a:extLst>
                </a:gridCol>
                <a:gridCol w="1657739">
                  <a:extLst>
                    <a:ext uri="{9D8B030D-6E8A-4147-A177-3AD203B41FA5}">
                      <a16:colId xmlns:a16="http://schemas.microsoft.com/office/drawing/2014/main" val="3686703670"/>
                    </a:ext>
                  </a:extLst>
                </a:gridCol>
                <a:gridCol w="2195185">
                  <a:extLst>
                    <a:ext uri="{9D8B030D-6E8A-4147-A177-3AD203B41FA5}">
                      <a16:colId xmlns:a16="http://schemas.microsoft.com/office/drawing/2014/main" val="2822449093"/>
                    </a:ext>
                  </a:extLst>
                </a:gridCol>
                <a:gridCol w="1926462">
                  <a:extLst>
                    <a:ext uri="{9D8B030D-6E8A-4147-A177-3AD203B41FA5}">
                      <a16:colId xmlns:a16="http://schemas.microsoft.com/office/drawing/2014/main" val="3320466770"/>
                    </a:ext>
                  </a:extLst>
                </a:gridCol>
              </a:tblGrid>
              <a:tr h="77145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Journal/ conference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 future scope from the paper (if any)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742648"/>
                  </a:ext>
                </a:extLst>
              </a:tr>
              <a:tr h="1128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Low-Cost Object Detection Systems for Educational and Industrial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Ahmed, S., &amp; Khan, 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Journal of Embedded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Designed cost-effective object detection systems suitable for educational and industrial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Scope for improving accuracy and adding intelligent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343736"/>
                  </a:ext>
                </a:extLst>
              </a:tr>
              <a:tr h="1128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Radar-Like Visualization Techniques for Spatial Data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Wilson, D., &amp; Garcia, 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International Journal of Visualization and Computer 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Proposed radar-style visualization for spatial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Future improvements can include 3D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940475"/>
                  </a:ext>
                </a:extLst>
              </a:tr>
              <a:tr h="1128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Real-Time Data Processing and Visualization Using Java-Based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Mehta, V., &amp; Joshi, 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Journal of Software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Demonstrated real-time data processing using Java; enabled efficient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Can be enhanced using modern frameworks and cross-platform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578642"/>
                  </a:ext>
                </a:extLst>
              </a:tr>
              <a:tr h="1128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Data-Driven Modeling and Visualization Techniques for Engineering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600" dirty="0"/>
                        <a:t>Raissi, M., Perdikaris, P., &amp; Karniadakis, G.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Journal of Computational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Introduced data-driven modeling techniques for engineering systems; improved accuracy using machine learning approaches.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Future work can focus on deep learning models and real-time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46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436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84614F-723D-0012-CB23-0A167CC4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79682C-A0B9-98B7-219A-2CE9303F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F8034-4F9F-AEC8-AC61-9F1075790372}"/>
              </a:ext>
            </a:extLst>
          </p:cNvPr>
          <p:cNvSpPr txBox="1"/>
          <p:nvPr/>
        </p:nvSpPr>
        <p:spPr>
          <a:xfrm>
            <a:off x="359230" y="683876"/>
            <a:ext cx="609755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USED</a:t>
            </a:r>
          </a:p>
          <a:p>
            <a:pPr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(HC-SR04)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</a:t>
            </a:r>
          </a:p>
          <a:p>
            <a:pPr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(Eclipse IDE)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(for visualization)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Communication Library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417338-09C4-92A2-E0DB-7CA6CC2458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784" y="1117841"/>
            <a:ext cx="4757398" cy="40548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866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DC690A-055F-0EF2-FEF2-EB68C7A9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E5A732-A2CC-30B6-8E5A-25E67382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D13FD-D1DE-0D9E-E391-C5D62E9211FC}"/>
              </a:ext>
            </a:extLst>
          </p:cNvPr>
          <p:cNvSpPr txBox="1"/>
          <p:nvPr/>
        </p:nvSpPr>
        <p:spPr>
          <a:xfrm>
            <a:off x="212271" y="272563"/>
            <a:ext cx="4592995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 Initialization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ultrasonic sensor and servo motor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system for operation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Angular Scanning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rotates from 0° to 180°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the environment continuously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Distance Measurement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sends and receives signals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object distance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Transmission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angle + distance via serial communication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real-time data transfer </a:t>
            </a: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E7B4E-C7D4-A03A-3B85-83D0B43F3FC8}"/>
              </a:ext>
            </a:extLst>
          </p:cNvPr>
          <p:cNvSpPr txBox="1"/>
          <p:nvPr/>
        </p:nvSpPr>
        <p:spPr>
          <a:xfrm>
            <a:off x="4598437" y="1108873"/>
            <a:ext cx="35549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 Processing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reads and formats data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for visualization 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Visualization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radar-like interface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scan line and object position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Output Result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display 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update of angle &amp; distance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E27B1B-BB1D-C63E-4C18-1247E575A8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81" t="1075" r="2811" b="4822"/>
          <a:stretch>
            <a:fillRect/>
          </a:stretch>
        </p:blipFill>
        <p:spPr bwMode="auto">
          <a:xfrm>
            <a:off x="8153400" y="1125255"/>
            <a:ext cx="3877359" cy="48104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1140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D5FBEE-B9FB-1CDA-ED3D-8C0414DC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59BDBE-36DD-0124-17E6-94FA96557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5E209-4B26-2242-DA4D-43D8219C68B3}"/>
              </a:ext>
            </a:extLst>
          </p:cNvPr>
          <p:cNvSpPr txBox="1"/>
          <p:nvPr/>
        </p:nvSpPr>
        <p:spPr>
          <a:xfrm>
            <a:off x="255493" y="262374"/>
            <a:ext cx="641285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algn="just"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detected in real time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measured within short range (2–40 cm)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and distance updated continuously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scanning from 0° to 180°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interface displayed object position clearly </a:t>
            </a:r>
          </a:p>
          <a:p>
            <a:pPr algn="just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algn="just"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showed good accuracy for short-range detection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 with minimal delay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communication between Arduino and Java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and continuous operation observed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variations due to environmental conditions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27782-9EC8-DAF5-CABE-BEC94425A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988" y="1942363"/>
            <a:ext cx="5349486" cy="32684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335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C55C87-2ED6-ACDB-AEEA-BEF01349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8777FA-20BF-EBE2-D296-D9413C6A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FA615-33A7-8057-D8B4-5E4716BD329B}"/>
              </a:ext>
            </a:extLst>
          </p:cNvPr>
          <p:cNvSpPr txBox="1"/>
          <p:nvPr/>
        </p:nvSpPr>
        <p:spPr>
          <a:xfrm>
            <a:off x="337457" y="262374"/>
            <a:ext cx="10784633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accurately detects objects using an ultrasonic sensor and measures distance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radar-like interface provided clear, real-time visualization of object positions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low-cost, efficient, and easy to understand, making it suitable for practical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effective integration of hardware sensing and software visualization 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  <a:p>
            <a:pPr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Vehicles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in parking assistance and obstacle detection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for autonomous navigation and collision avoidance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Systems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Motion detection and intrusion monitoring in restricted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Automated sensing for safety and surveillance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Object tracking and monitoring in production lines </a:t>
            </a:r>
          </a:p>
        </p:txBody>
      </p:sp>
    </p:spTree>
    <p:extLst>
      <p:ext uri="{BB962C8B-B14F-4D97-AF65-F5344CB8AC3E}">
        <p14:creationId xmlns:p14="http://schemas.microsoft.com/office/powerpoint/2010/main" val="34993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6460CC-5A45-7B9C-E9AD-8EE874C20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 Semester, ECE, BNMIT                                                                           2026-27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BAC975-7851-F352-3764-7885F569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901C0-E6C4-4CD0-A2CB-0632E133B8B8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E38E5-28CF-A85C-5400-D74AD2142072}"/>
              </a:ext>
            </a:extLst>
          </p:cNvPr>
          <p:cNvSpPr txBox="1"/>
          <p:nvPr/>
        </p:nvSpPr>
        <p:spPr>
          <a:xfrm>
            <a:off x="208384" y="425773"/>
            <a:ext cx="11644604" cy="5729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REFERENCES </a:t>
            </a:r>
          </a:p>
          <a:p>
            <a:pPr>
              <a:lnSpc>
                <a:spcPct val="150000"/>
              </a:lnSpc>
              <a:buNone/>
            </a:pP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Smith, J., &amp; Brown, L. (2023). Ultrasonic Sensor-Based Object Detection Systems for Short-Range Applications. International Journal of Sensor Technology.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Kumar, A., &amp; Patel, R. (2022). Real-Time Object Detection Using Embedded Systems. IEEE International Conference on Embedded Systems.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Lee, S., &amp; Kim, H. (2021). Servo-Based Scanning Mechanisms for Environmental Mapping. Journal of Robotics and Automation.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Zhang, Y., Chen, X., &amp; Li, M. (2023). Web-Based Visualization of Sensor Data Using Real-Time Interfaces. Journal of Web Engineering.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 Reddy, P., &amp; Sharma, K. (2022). Serial Communication Techniques Between Microcontrollers and High-Level Applications. International Journal of Computer Applications.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[6] Nguyen, T., &amp; Pham, D. (2021). Interactive Visualization Systems for Real-Time Monitoring Applications. IEEE Access.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[7] Ahmed, S., &amp; Khan, M. (2020). Low-Cost Object Detection Systems for Educational and Industrial Applications. Journal of Embedded Systems.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[8] Wilson, D., &amp; Garcia, R. (2023). Radar-Like Visualization Techniques for Spatial Data Representation. International Journal of Visualization and Computer Graphics.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[9] Mehta, V., &amp; Joshi, S. (2022). Real-Time Data Processing and Visualization Using Java-Based Systems. Journal of Software Engineering.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[10] </a:t>
            </a:r>
            <a:r>
              <a:rPr lang="en-IN" sz="1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Raissi</a:t>
            </a: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M., </a:t>
            </a:r>
            <a:r>
              <a:rPr lang="en-IN" sz="1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Perdikaris</a:t>
            </a: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P., &amp; </a:t>
            </a:r>
            <a:r>
              <a:rPr lang="en-IN" sz="1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Karniadakis</a:t>
            </a:r>
            <a:r>
              <a:rPr lang="en-IN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G. (2019). Data-Driven Modeling and Visualization Techniques for Engineering Systems. Journal of Computational Methods.</a:t>
            </a:r>
          </a:p>
        </p:txBody>
      </p:sp>
    </p:spTree>
    <p:extLst>
      <p:ext uri="{BB962C8B-B14F-4D97-AF65-F5344CB8AC3E}">
        <p14:creationId xmlns:p14="http://schemas.microsoft.com/office/powerpoint/2010/main" val="131913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1374</Words>
  <Application>Microsoft Office PowerPoint</Application>
  <PresentationFormat>Widescreen</PresentationFormat>
  <Paragraphs>205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 Sankpal</dc:creator>
  <cp:lastModifiedBy>HARSHITA NAYAK</cp:lastModifiedBy>
  <cp:revision>23</cp:revision>
  <dcterms:created xsi:type="dcterms:W3CDTF">2021-07-10T05:40:13Z</dcterms:created>
  <dcterms:modified xsi:type="dcterms:W3CDTF">2026-05-23T08:18:26Z</dcterms:modified>
</cp:coreProperties>
</file>